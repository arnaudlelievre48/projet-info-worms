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step() classique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Peu dense</c:v>
                  </c:pt>
                  <c:pt idx="1">
                    <c:v>Mixte</c:v>
                  </c:pt>
                  <c:pt idx="2">
                    <c:v>Dense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36.7</c:v>
                </c:pt>
                <c:pt idx="1">
                  <c:v>48.9</c:v>
                </c:pt>
                <c:pt idx="2">
                  <c:v>87.6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step_vectorized()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Peu dense</c:v>
                  </c:pt>
                  <c:pt idx="1">
                    <c:v>Mixte</c:v>
                  </c:pt>
                  <c:pt idx="2">
                    <c:v>Dense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12.2</c:v>
                </c:pt>
                <c:pt idx="1">
                  <c:v>13.9</c:v>
                </c:pt>
                <c:pt idx="2">
                  <c:v>17.4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5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57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57E"/>
                    </a:solidFill>
                    <a:latin typeface="Arial"/>
                  </a:rPr>
                  <a:t>temps par image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5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57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Pichard. Présenter le binôme et le contexte (projet info autonome du cursus). Accroche : un simulateur de combat tactique 2D dont l'originalité n'est pas le jeu mais le terrain ENTIÈREMENT destructible — chaque morceau de décor est une donnée vivante qui peut s'effondrer, couler ou disparaître. Annoncer le plan en une phrase : du cahier des charges au cœur technique (la physique du sable), puis démo. ~40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Pichard. Présenter les 5 axes comme un contrat. Insister sur le 1er : le terrain est une matrice où chaque cellule porte (matériau, id objet, texture) — c'est ce choix qui rend tout le reste possible. Mentionner brièvement l'économie pour montrer qu'il y a une boucle de jeu complète, sans s'attarder (pas le focus). ~50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Pichard. Justifier chaque hypothèse par la performance : on évite de résoudre une équation différentielle par image, une trajectoire explicite en 50 points suffit. Sur la grille 192×108 : 20 000 cellules, le compromis assez fin/assez grossier pour le temps réel — CE CHIFFRE VA REVENIR quand on parlera de performance (amorce de l'arc). Les deux rayons : modèle de dégâts simple mais lisible. ~50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Lelièvre. On a séparé logique de jeu, calcul physique et rendu. Donner le rôle de chaque module en une phrase, sans lire la liste. Pointer physics.py : c'est lui qui nous occupera le plus aujourd'hui. Mentionner SQLite : grille en binaire NumPy, joueurs en JSON — preuve de persistance. ~50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Lelièvre. Le jury demandait héritage ET composition entre au moins trois types : on a les deux. Héritage : missile et strike partagent les mêmes paramètres balistiques mais une trajectoire différente, d'où la classe mère abstraite Weapons (idem Shape). Composition : un Player POSSÈDE des worms et des armes — relation de composition, pas d'héritage. Rester concis, c'est une slide preuve de conception. ~50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Lelièvre. Dérouler les trois pistes comme un raisonnement : pourquoi on écarte les deux premières. PHRASE DE BASCULE (ouverture de l'arc) : la matrice est le bon compromis… mais elle a un prix : ces 20 000 cellules, il faut les faire évoluer à chaque image en temps réel — et c'est là que Python devient un problème. Enchaîner directement sur la slide 7. ~50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Pichard. Expliquer l'automate cellulaire simplement : le sable est LOCAL, un grain ne regarde que ses voisines du dessous, pas de physique globale. Le verrou : cette logique est juste, mais l'écrire en boucles Python imbriquées revient à faire 20 000 tests à la main, image après image — c'est le goulot. Annoncer la solution : comment faire les mêmes calculs SANS boucle Python ? Ne PAS lire de code Python. ~50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Pichard — POINT PHARE. Le concept d'abord, sans jargon : plutôt que demander à chaque grain 'peux-tu tomber ?', on pose la question à toute la grille en même temps. Dérouler le schéma : masque sable, masque air-en-dessous, puis le ET logique → can_fall. Astuce-clé à marteler : 'regarder la case du dessous' = comparer la grille avec une copie décalée d'une ligne ; NumPy fait cette comparaison sur 20 000 cellules en une opération, en code machine, pas dans l'interpréteur. Conclure : c'est de la vectorisation. JAMAIS de code Python à l'écran. ~55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Lelièvre — résolution de l'arc. On a benchmarké les deux versions sur des grilles croissantes et trois densités. Intuition du résultat : la version naïve coûte de plus en plus cher quand le sable se densifie (elle teste chaque cellule), la vectorisée encaisse la densité presque sans surcoût — exactement ce qu'on veut quand le terrain se remplit de débris. Conclure : c'est ce gain qui rend la simulation jouable en temps réel ; la naïve reste la référence lisible. ~50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Lelièvre. Un pont coupé en deux ne doit pas rester suspendu : apply_object_cuts détecte qu'une rangée de l'objet est entièrement vide et transforme le haut en sable, qui s'écroule via la physique. Assumer la simplicité : pas de vraie analyse des appuis, c'est une heuristique, mais lisible et peu coûteuse. Cache : petit mais essentiel — sans lui on rechargeait des PNG 60 fois/s depuis le disque. ~50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Pichard. Être lucide : notre apport principal, c'est la vectorisation et l'extensibilité du moteur. Sur les limites : le sable s'empile mais ne se comporte pas comme un liquide (pas de vases communicants) — c'est la principale limite physique et notre première perspective. Finir sur une note ouverte et positive (poids des worms = dimension stratégique en plus, moteur de particules). ~50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Pichard annonce, Lelièvre pilote (~5 min). Plan de démo : 1) lancer python3 main.py, charger/créer une partie (menu). 2) placer un worm, acheter un missile, tirer → montrer le cratère. 3) tirer sur un pont → montrer l'effondrement en sable. 4) laisser le sable s'écouler quelques secondes — MOMENT PHARE : 'tout ce sable qui coule, c'est step_vectorized qui tourne' (relier à la slide 8). 5) finir un tour (Entrée), changer de joueur, sauvegarder (q). Garder une marge : si le temps manque, finir sur l'effondrement du pont. Avoir une sauvegarde de secours prête.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9864"/>
            <a:ext cx="237744" cy="237744"/>
          </a:xfrm>
          <a:prstGeom prst="rect">
            <a:avLst/>
          </a:prstGeom>
          <a:solidFill>
            <a:srgbClr val="8B5A2B"/>
          </a:solidFill>
          <a:ln w="9525">
            <a:solidFill>
              <a:srgbClr val="1E3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5532120"/>
            <a:ext cx="237744" cy="237744"/>
          </a:xfrm>
          <a:prstGeom prst="rect">
            <a:avLst/>
          </a:prstGeom>
          <a:solidFill>
            <a:srgbClr val="6FA03A"/>
          </a:solidFill>
          <a:ln w="9525">
            <a:solidFill>
              <a:srgbClr val="1E39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5769864"/>
            <a:ext cx="237744" cy="237744"/>
          </a:xfrm>
          <a:prstGeom prst="rect">
            <a:avLst/>
          </a:prstGeom>
          <a:solidFill>
            <a:srgbClr val="8B5A2B"/>
          </a:solidFill>
          <a:ln w="9525">
            <a:solidFill>
              <a:srgbClr val="1E39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5769864"/>
            <a:ext cx="237744" cy="237744"/>
          </a:xfrm>
          <a:prstGeom prst="rect">
            <a:avLst/>
          </a:prstGeom>
          <a:solidFill>
            <a:srgbClr val="8B5A2B"/>
          </a:solidFill>
          <a:ln w="9525">
            <a:solidFill>
              <a:srgbClr val="1E39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6007608"/>
            <a:ext cx="237744" cy="237744"/>
          </a:xfrm>
          <a:prstGeom prst="rect">
            <a:avLst/>
          </a:prstGeom>
          <a:solidFill>
            <a:srgbClr val="8B5A2B"/>
          </a:solidFill>
          <a:ln w="9525">
            <a:solidFill>
              <a:srgbClr val="1E39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5769864"/>
            <a:ext cx="237744" cy="237744"/>
          </a:xfrm>
          <a:prstGeom prst="rect">
            <a:avLst/>
          </a:prstGeom>
          <a:solidFill>
            <a:srgbClr val="8B5A2B"/>
          </a:solidFill>
          <a:ln w="9525">
            <a:solidFill>
              <a:srgbClr val="1E39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45720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assets/enst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2" y="658368"/>
            <a:ext cx="2551176" cy="5120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183880" y="1874520"/>
            <a:ext cx="3611880" cy="3611880"/>
          </a:xfrm>
          <a:prstGeom prst="roundRect">
            <a:avLst>
              <a:gd name="adj" fmla="val 1519"/>
            </a:avLst>
          </a:prstGeom>
          <a:solidFill>
            <a:srgbClr val="1E394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assets/g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11680"/>
            <a:ext cx="3337560" cy="33375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" y="1783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de jeu 2D</a:t>
            </a:r>
            <a:endParaRPr lang="en-US" sz="4600" dirty="0"/>
          </a:p>
        </p:txBody>
      </p:sp>
      <p:sp>
        <p:nvSpPr>
          <p:cNvPr id="13" name="Text 9"/>
          <p:cNvSpPr/>
          <p:nvPr/>
        </p:nvSpPr>
        <p:spPr>
          <a:xfrm>
            <a:off x="640080" y="254203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terrain </a:t>
            </a:r>
            <a:pPr indent="0" marL="0">
              <a:buNone/>
            </a:pPr>
            <a:r>
              <a:rPr lang="en-US" sz="4600" b="1" dirty="0">
                <a:solidFill>
                  <a:srgbClr val="E0A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destructible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658368" y="3429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7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 physique granulaire en temps réel — Python &amp; NumPy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8368" y="4160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Pichard  ·  A. Lelièvre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8368" y="4590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FISE 2028 · ENSTA — Campus de Brest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8368" y="4937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juin 2026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F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cahier des charges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axes que nous nous sommes fixés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766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18488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Interactivité matricielle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198424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terrain est une grille de données — triplet (matériau, id d'objet, texture) — et non une image figée.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268102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532888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Physique granulaire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289864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 du sable et des débris par automates cellulaires, pour des éboulements plausibles.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359542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447288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Stabilité structurelle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381304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structures dont une section est rompue (ponts) s'effondrent au lieu de rester suspendues.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450982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361688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économique &amp; tours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54480" y="472744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de 1000, max 3 actions/tour, achats : worm (200), missile (150), strike (300, 2 actions).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5257800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1" y="542422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5276088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Armes &amp; choix tactiques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1554480" y="5641848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armes : le missile suit une courbe, le strike tombe à la verticale.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Hypothèses réductrices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tenir le temps réel sur une machine standard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64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Cinématique simplifiée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671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résistance de l'air ni d'effet Magnus.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Missile = courbe quadratique explicite, échantillonnée en 50 points.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410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Discrétisation de l'espace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130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fixe 192 × 108 ≈ 20 000 cellules.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1920 × 1080 : une texture de 10 × 10 px par cellule.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5056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dégâts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458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rayons emboîtés : fragmentation (solide → sable) puis explosion (→ air).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60920" y="1417320"/>
            <a:ext cx="3657600" cy="3657600"/>
          </a:xfrm>
          <a:prstGeom prst="ellipse">
            <a:avLst/>
          </a:prstGeom>
          <a:solidFill>
            <a:srgbClr val="F3DCA0"/>
          </a:solidFill>
          <a:ln w="25400">
            <a:solidFill>
              <a:srgbClr val="E0A2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286000"/>
            <a:ext cx="1920240" cy="1920240"/>
          </a:xfrm>
          <a:prstGeom prst="ellipse">
            <a:avLst/>
          </a:prstGeom>
          <a:solidFill>
            <a:srgbClr val="C9EEF1"/>
          </a:solidFill>
          <a:ln w="25400">
            <a:solidFill>
              <a:srgbClr val="17B8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9992" y="3136392"/>
            <a:ext cx="219456" cy="21945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sable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75320" y="3410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 → air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4964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logicielle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des responsabilités, proche d'un MVC simplifié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53128" y="15544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44568" y="16642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
</a:t>
            </a:r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D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jeu · événements · tours  (Contrôleur)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6880" y="320040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8320" y="331012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C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assets.py
</a:t>
            </a:r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: Player, Worm, armes (Modèle)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48" y="2514600"/>
            <a:ext cx="-4159148" cy="685800"/>
          </a:xfrm>
          <a:prstGeom prst="line">
            <a:avLst/>
          </a:prstGeom>
          <a:noFill/>
          <a:ln w="19050">
            <a:solidFill>
              <a:srgbClr val="AEBE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7512" y="320040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3DCA0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98952" y="331012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C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physics.py
</a:t>
            </a:r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du sable, gravité, dégâts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48" y="2514600"/>
            <a:ext cx="-1388516" cy="685800"/>
          </a:xfrm>
          <a:prstGeom prst="line">
            <a:avLst/>
          </a:prstGeom>
          <a:noFill/>
          <a:ln w="19050">
            <a:solidFill>
              <a:srgbClr val="AEBE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8144" y="320040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9584" y="331012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C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shapes.py
</a:t>
            </a:r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&amp; transformations radiales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48" y="2514600"/>
            <a:ext cx="1382116" cy="685800"/>
          </a:xfrm>
          <a:prstGeom prst="line">
            <a:avLst/>
          </a:prstGeom>
          <a:noFill/>
          <a:ln w="19050">
            <a:solidFill>
              <a:srgbClr val="AEBE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48776" y="3200400"/>
            <a:ext cx="2606040" cy="1051560"/>
          </a:xfrm>
          <a:prstGeom prst="roundRect">
            <a:avLst>
              <a:gd name="adj" fmla="val 6087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40216" y="331012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C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display.py
</a:t>
            </a:r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de la grille &amp; de l'UI (Vue)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48" y="2514600"/>
            <a:ext cx="4152748" cy="685800"/>
          </a:xfrm>
          <a:prstGeom prst="line">
            <a:avLst/>
          </a:prstGeom>
          <a:noFill/>
          <a:ln w="19050">
            <a:solidFill>
              <a:srgbClr val="AEBE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880" y="4709160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8320" y="4818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C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DSL.py
</a:t>
            </a:r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texte simple pour configurer le modèle objet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3120" y="4709160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4560" y="48188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C2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— game.db
</a:t>
            </a:r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: grille (binaire NumPy) + joueurs (JSON)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objet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pour les armes &amp; les formes, composition dans Player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743200" cy="960120"/>
          </a:xfrm>
          <a:prstGeom prst="roundRect">
            <a:avLst>
              <a:gd name="adj" fmla="val 3810"/>
            </a:avLst>
          </a:prstGeom>
          <a:solidFill>
            <a:srgbClr val="F1F5F6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«abstract» Weapons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938528"/>
            <a:ext cx="2743200" cy="0"/>
          </a:xfrm>
          <a:prstGeom prst="line">
            <a:avLst/>
          </a:prstGeom>
          <a:noFill/>
          <a:ln w="12700">
            <a:solidFill>
              <a:srgbClr val="D8E1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751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radius_range / explosion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radius_break · damage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launch_trajectory()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73736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291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30168"/>
            <a:ext cx="1737360" cy="0"/>
          </a:xfrm>
          <a:prstGeom prst="line">
            <a:avLst/>
          </a:prstGeom>
          <a:noFill/>
          <a:ln w="12700">
            <a:solidFill>
              <a:srgbClr val="D8E1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667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quadratique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3246120"/>
            <a:ext cx="173736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3291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strike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14600" y="3630168"/>
            <a:ext cx="1737360" cy="0"/>
          </a:xfrm>
          <a:prstGeom prst="line">
            <a:avLst/>
          </a:prstGeom>
          <a:noFill/>
          <a:ln w="12700">
            <a:solidFill>
              <a:srgbClr val="D8E1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366674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2514600"/>
            <a:ext cx="-320040" cy="731520"/>
          </a:xfrm>
          <a:prstGeom prst="line">
            <a:avLst/>
          </a:prstGeom>
          <a:noFill/>
          <a:ln w="19050">
            <a:solidFill>
              <a:srgbClr val="8FA6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514600"/>
            <a:ext cx="1188720" cy="731520"/>
          </a:xfrm>
          <a:prstGeom prst="line">
            <a:avLst/>
          </a:prstGeom>
          <a:noFill/>
          <a:ln w="19050">
            <a:solidFill>
              <a:srgbClr val="8FA6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1554480"/>
            <a:ext cx="2743200" cy="960120"/>
          </a:xfrm>
          <a:prstGeom prst="roundRect">
            <a:avLst>
              <a:gd name="adj" fmla="val 3810"/>
            </a:avLst>
          </a:prstGeom>
          <a:solidFill>
            <a:srgbClr val="F1F5F6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41080" y="1600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«abstract» Shape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95360" y="1938528"/>
            <a:ext cx="2743200" cy="0"/>
          </a:xfrm>
          <a:prstGeom prst="line">
            <a:avLst/>
          </a:prstGeom>
          <a:noFill/>
          <a:ln w="12700">
            <a:solidFill>
              <a:srgbClr val="D8E1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19751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x0, y0 · material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object_id · texture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draw(grid)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55280" y="3246120"/>
            <a:ext cx="141732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01000" y="3291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Rectangle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955280" y="3630168"/>
            <a:ext cx="1417320" cy="0"/>
          </a:xfrm>
          <a:prstGeom prst="line">
            <a:avLst/>
          </a:prstGeom>
          <a:noFill/>
          <a:ln w="12700">
            <a:solidFill>
              <a:srgbClr val="D8E1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366674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dx, dy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464040" y="3246120"/>
            <a:ext cx="128016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09760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464040" y="3630168"/>
            <a:ext cx="1280160" cy="0"/>
          </a:xfrm>
          <a:prstGeom prst="line">
            <a:avLst/>
          </a:prstGeom>
          <a:noFill/>
          <a:ln w="12700">
            <a:solidFill>
              <a:srgbClr val="D8E1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73768" y="36667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dx, dy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835640" y="3246120"/>
            <a:ext cx="109728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881360" y="3291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HCircle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835640" y="3630168"/>
            <a:ext cx="1097280" cy="0"/>
          </a:xfrm>
          <a:prstGeom prst="line">
            <a:avLst/>
          </a:prstGeom>
          <a:noFill/>
          <a:ln w="12700">
            <a:solidFill>
              <a:srgbClr val="D8E1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45368" y="36667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692640" y="2514600"/>
            <a:ext cx="-1051560" cy="731520"/>
          </a:xfrm>
          <a:prstGeom prst="line">
            <a:avLst/>
          </a:prstGeom>
          <a:noFill/>
          <a:ln w="19050">
            <a:solidFill>
              <a:srgbClr val="8FA6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6960" y="2514600"/>
            <a:ext cx="91440" cy="731520"/>
          </a:xfrm>
          <a:prstGeom prst="line">
            <a:avLst/>
          </a:prstGeom>
          <a:noFill/>
          <a:ln w="19050">
            <a:solidFill>
              <a:srgbClr val="8FA6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41280" y="2514600"/>
            <a:ext cx="1097280" cy="731520"/>
          </a:xfrm>
          <a:prstGeom prst="line">
            <a:avLst/>
          </a:prstGeom>
          <a:noFill/>
          <a:ln w="19050">
            <a:solidFill>
              <a:srgbClr val="8FA6A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4160520"/>
            <a:ext cx="2468880" cy="914400"/>
          </a:xfrm>
          <a:prstGeom prst="roundRect">
            <a:avLst>
              <a:gd name="adj" fmla="val 4000"/>
            </a:avLst>
          </a:prstGeom>
          <a:solidFill>
            <a:srgbClr val="F3DCA0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92040" y="4206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846320" y="4544568"/>
            <a:ext cx="2468880" cy="0"/>
          </a:xfrm>
          <a:prstGeom prst="line">
            <a:avLst/>
          </a:prstGeom>
          <a:noFill/>
          <a:ln w="12700">
            <a:solidFill>
              <a:srgbClr val="D8E1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4581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wormz · weapons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kill_worm(id) · to_dict()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74920" y="1874520"/>
            <a:ext cx="201168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120640" y="19202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Worm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74920" y="2258568"/>
            <a:ext cx="2011680" cy="0"/>
          </a:xfrm>
          <a:prstGeom prst="line">
            <a:avLst/>
          </a:prstGeom>
          <a:noFill/>
          <a:ln w="12700">
            <a:solidFill>
              <a:srgbClr val="D8E1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84648" y="22951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x_pos, y_pos · health</a:t>
            </a:r>
            <a:endParaRPr lang="en-US" sz="9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gravity(grid)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80760" y="4160520"/>
            <a:ext cx="0" cy="-141732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4023360"/>
            <a:ext cx="274320" cy="201168"/>
          </a:xfrm>
          <a:prstGeom prst="diamond">
            <a:avLst/>
          </a:prstGeom>
          <a:solidFill>
            <a:srgbClr val="0E7C86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1..*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 héritage     </a:t>
            </a:r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◆──  composition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Modéliser le terrain : le bon compromis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pistes comparées avant de retenir la matrice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5148" y="16002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9468" y="1828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vectoriel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9468" y="25603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Polygones rapides au rendu (GPU/CuPy possible), mais destruction locale rigide : creuser un trou = calculs booléens coûteux.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9468" y="4206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écarté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35628" y="16002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09948" y="1828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Particules indépendantes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09948" y="25603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 par grain de sable. Gérer les collisions entre des milliers d'objets rend la simulation trop lourde.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09948" y="4206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écarté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76108" y="1490472"/>
            <a:ext cx="3520440" cy="3310128"/>
          </a:xfrm>
          <a:prstGeom prst="roundRect">
            <a:avLst>
              <a:gd name="adj" fmla="val 2210"/>
            </a:avLst>
          </a:prstGeom>
          <a:solidFill>
            <a:srgbClr val="EAF5EC"/>
          </a:solidFill>
          <a:ln w="25400">
            <a:solidFill>
              <a:srgbClr val="6FA03A"/>
            </a:solidFill>
            <a:prstDash val="solid"/>
          </a:ln>
          <a:effectLst>
            <a:outerShdw sx="100000" sy="100000" kx="0" ky="0" algn="bl" rotWithShape="0" blurRad="88900" dist="38100" dir="162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50428" y="17190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NumPy hybride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50428" y="25603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pour le terrain + classes Python pour les entités. Bon compromis fidélité / simplicité / fluidité. « Gros grains » = moins de cellules.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0428" y="4297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retenu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37360" y="5166360"/>
            <a:ext cx="8716975" cy="713232"/>
          </a:xfrm>
          <a:prstGeom prst="roundRect">
            <a:avLst>
              <a:gd name="adj" fmla="val 50000"/>
            </a:avLst>
          </a:prstGeom>
          <a:solidFill>
            <a:srgbClr val="13262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5166360"/>
            <a:ext cx="8168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…mais ce choix a un prix : ces ~20 000 cellules, il faut les faire évoluer à chaque image, en temps réel.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défi : la physique naïve du sable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cellulaire — et le mur de la lenteur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local 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grain tente de tomber tout droit, sinon de glisser en diagonale. Pas de physique globale.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13262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450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PSEUDO-CODE  —  step()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 chaque cellule (bas → haut) 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 cellule = SABLE 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 dessous = VIDE        → descendre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SINON SI diagonale VIDE → glisser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640080" cy="640080"/>
          </a:xfrm>
          <a:prstGeom prst="ellipse">
            <a:avLst/>
          </a:prstGeom>
          <a:solidFill>
            <a:srgbClr val="F4E3D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469270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455371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~20 000 cellules × 60 images/s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testées une par une dans des boucles Python → l'interpréteur sature.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55280" y="2194560"/>
            <a:ext cx="868680" cy="868680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23960" y="2194560"/>
            <a:ext cx="868680" cy="868680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92640" y="2194560"/>
            <a:ext cx="868680" cy="868680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55280" y="3063240"/>
            <a:ext cx="868680" cy="868680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823960" y="3063240"/>
            <a:ext cx="868680" cy="868680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92640" y="3063240"/>
            <a:ext cx="868680" cy="868680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0" y="3931920"/>
            <a:ext cx="868680" cy="868680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23960" y="3931920"/>
            <a:ext cx="868680" cy="868680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92640" y="3931920"/>
            <a:ext cx="868680" cy="868680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823960" y="2194560"/>
            <a:ext cx="868680" cy="868680"/>
          </a:xfrm>
          <a:prstGeom prst="rect">
            <a:avLst/>
          </a:prstGeom>
          <a:solidFill>
            <a:srgbClr val="E0A2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55280" y="3931920"/>
            <a:ext cx="868680" cy="868680"/>
          </a:xfrm>
          <a:prstGeom prst="rect">
            <a:avLst/>
          </a:prstGeom>
          <a:solidFill>
            <a:srgbClr val="E9F2F3"/>
          </a:solidFill>
          <a:ln w="15875">
            <a:solidFill>
              <a:srgbClr val="17B8C4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8823960" y="3931920"/>
            <a:ext cx="868680" cy="868680"/>
          </a:xfrm>
          <a:prstGeom prst="rect">
            <a:avLst/>
          </a:prstGeom>
          <a:solidFill>
            <a:srgbClr val="E9F2F3"/>
          </a:solidFill>
          <a:ln w="15875">
            <a:solidFill>
              <a:srgbClr val="17B8C4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9692640" y="3931920"/>
            <a:ext cx="868680" cy="868680"/>
          </a:xfrm>
          <a:prstGeom prst="rect">
            <a:avLst/>
          </a:prstGeom>
          <a:solidFill>
            <a:srgbClr val="E9F2F3"/>
          </a:solidFill>
          <a:ln w="15875">
            <a:solidFill>
              <a:srgbClr val="17B8C4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9258300" y="3063240"/>
            <a:ext cx="-868680" cy="960120"/>
          </a:xfrm>
          <a:prstGeom prst="line">
            <a:avLst/>
          </a:prstGeom>
          <a:noFill/>
          <a:ln w="31750">
            <a:solidFill>
              <a:srgbClr val="E0A22E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9258300" y="3063240"/>
            <a:ext cx="0" cy="960120"/>
          </a:xfrm>
          <a:prstGeom prst="line">
            <a:avLst/>
          </a:prstGeom>
          <a:noFill/>
          <a:ln w="31750">
            <a:solidFill>
              <a:srgbClr val="E0A22E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258300" y="3063240"/>
            <a:ext cx="868680" cy="960120"/>
          </a:xfrm>
          <a:prstGeom prst="line">
            <a:avLst/>
          </a:prstGeom>
          <a:noFill/>
          <a:ln w="31750">
            <a:solidFill>
              <a:srgbClr val="E0A22E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7680960" y="4937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destinations possibles : bas, bas-gauche, bas-droite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step_vectorized() : penser en matrices, pas en boucles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interroge toute la grille d'un coup, avec des masques booléens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2240280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2240280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36776" y="2240280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0824" y="2240280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24328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2728" y="2624328"/>
            <a:ext cx="384048" cy="384048"/>
          </a:xfrm>
          <a:prstGeom prst="rect">
            <a:avLst/>
          </a:prstGeom>
          <a:solidFill>
            <a:srgbClr val="E0A2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36776" y="2624328"/>
            <a:ext cx="384048" cy="384048"/>
          </a:xfrm>
          <a:prstGeom prst="rect">
            <a:avLst/>
          </a:prstGeom>
          <a:solidFill>
            <a:srgbClr val="E0A2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0824" y="2624328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008376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2728" y="3008376"/>
            <a:ext cx="384048" cy="384048"/>
          </a:xfrm>
          <a:prstGeom prst="rect">
            <a:avLst/>
          </a:prstGeom>
          <a:solidFill>
            <a:srgbClr val="E0A2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36776" y="3008376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0824" y="3008376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392424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728" y="3392424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36776" y="3392424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20824" y="3392424"/>
            <a:ext cx="384048" cy="384048"/>
          </a:xfrm>
          <a:prstGeom prst="rect">
            <a:avLst/>
          </a:prstGeom>
          <a:solidFill>
            <a:srgbClr val="C9EEF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1856232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grille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8679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sable </a:t>
            </a:r>
            <a:pPr algn="ctr" indent="0" marL="0">
              <a:buNone/>
            </a:pPr>
            <a:r>
              <a:rPr lang="en-US" sz="11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fond d'</a:t>
            </a:r>
            <a:pPr algn="ctr" indent="0" marL="0">
              <a:buNone/>
            </a:pPr>
            <a:r>
              <a:rPr lang="en-US" sz="1100" b="1" dirty="0">
                <a:solidFill>
                  <a:srgbClr val="17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9464" y="3008376"/>
            <a:ext cx="50292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160520" y="1856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Masque sable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60520" y="224028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224028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224028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57800" y="224028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520" y="260604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2606040"/>
            <a:ext cx="365760" cy="365760"/>
          </a:xfrm>
          <a:prstGeom prst="rect">
            <a:avLst/>
          </a:prstGeom>
          <a:solidFill>
            <a:srgbClr val="E0A2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606040"/>
            <a:ext cx="365760" cy="365760"/>
          </a:xfrm>
          <a:prstGeom prst="rect">
            <a:avLst/>
          </a:prstGeom>
          <a:solidFill>
            <a:srgbClr val="E0A2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7800" y="260604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60520" y="297180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2971800"/>
            <a:ext cx="365760" cy="365760"/>
          </a:xfrm>
          <a:prstGeom prst="rect">
            <a:avLst/>
          </a:prstGeom>
          <a:solidFill>
            <a:srgbClr val="E0A2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297180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7800" y="297180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052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2628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9204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5780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1856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en dessous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92240" y="2240280"/>
            <a:ext cx="365760" cy="365760"/>
          </a:xfrm>
          <a:prstGeom prst="rect">
            <a:avLst/>
          </a:prstGeom>
          <a:solidFill>
            <a:srgbClr val="17B8C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224028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23760" y="224028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2240280"/>
            <a:ext cx="365760" cy="365760"/>
          </a:xfrm>
          <a:prstGeom prst="rect">
            <a:avLst/>
          </a:prstGeom>
          <a:solidFill>
            <a:srgbClr val="17B8C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2606040"/>
            <a:ext cx="365760" cy="365760"/>
          </a:xfrm>
          <a:prstGeom prst="rect">
            <a:avLst/>
          </a:prstGeom>
          <a:solidFill>
            <a:srgbClr val="17B8C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0" y="260604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3760" y="2606040"/>
            <a:ext cx="365760" cy="365760"/>
          </a:xfrm>
          <a:prstGeom prst="rect">
            <a:avLst/>
          </a:prstGeom>
          <a:solidFill>
            <a:srgbClr val="17B8C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89520" y="2606040"/>
            <a:ext cx="365760" cy="365760"/>
          </a:xfrm>
          <a:prstGeom prst="rect">
            <a:avLst/>
          </a:prstGeom>
          <a:solidFill>
            <a:srgbClr val="17B8C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92240" y="2971800"/>
            <a:ext cx="365760" cy="365760"/>
          </a:xfrm>
          <a:prstGeom prst="rect">
            <a:avLst/>
          </a:prstGeom>
          <a:solidFill>
            <a:srgbClr val="17B8C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0" y="2971800"/>
            <a:ext cx="365760" cy="365760"/>
          </a:xfrm>
          <a:prstGeom prst="rect">
            <a:avLst/>
          </a:prstGeom>
          <a:solidFill>
            <a:srgbClr val="17B8C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23760" y="2971800"/>
            <a:ext cx="365760" cy="365760"/>
          </a:xfrm>
          <a:prstGeom prst="rect">
            <a:avLst/>
          </a:prstGeom>
          <a:solidFill>
            <a:srgbClr val="17B8C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89520" y="2971800"/>
            <a:ext cx="365760" cy="365760"/>
          </a:xfrm>
          <a:prstGeom prst="rect">
            <a:avLst/>
          </a:prstGeom>
          <a:solidFill>
            <a:srgbClr val="17B8C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2376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8952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23960" y="1856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can_fall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823960" y="224028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89720" y="224028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55480" y="224028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21240" y="224028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23960" y="260604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89720" y="260604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55480" y="2606040"/>
            <a:ext cx="365760" cy="365760"/>
          </a:xfrm>
          <a:prstGeom prst="rect">
            <a:avLst/>
          </a:prstGeom>
          <a:solidFill>
            <a:srgbClr val="6FA03A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6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7893" y="2679192"/>
            <a:ext cx="160934" cy="219456"/>
          </a:xfrm>
          <a:prstGeom prst="rect">
            <a:avLst/>
          </a:prstGeom>
        </p:spPr>
      </p:pic>
      <p:sp>
        <p:nvSpPr>
          <p:cNvPr id="66" name="Shape 63"/>
          <p:cNvSpPr/>
          <p:nvPr/>
        </p:nvSpPr>
        <p:spPr>
          <a:xfrm>
            <a:off x="9921240" y="260604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823960" y="297180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189720" y="2971800"/>
            <a:ext cx="365760" cy="365760"/>
          </a:xfrm>
          <a:prstGeom prst="rect">
            <a:avLst/>
          </a:prstGeom>
          <a:solidFill>
            <a:srgbClr val="6FA03A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6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2133" y="3044952"/>
            <a:ext cx="160934" cy="219456"/>
          </a:xfrm>
          <a:prstGeom prst="rect">
            <a:avLst/>
          </a:prstGeom>
        </p:spPr>
      </p:pic>
      <p:sp>
        <p:nvSpPr>
          <p:cNvPr id="70" name="Shape 66"/>
          <p:cNvSpPr/>
          <p:nvPr/>
        </p:nvSpPr>
        <p:spPr>
          <a:xfrm>
            <a:off x="9555480" y="297180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9921240" y="297180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82396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918972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955548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9921240" y="3337560"/>
            <a:ext cx="365760" cy="365760"/>
          </a:xfrm>
          <a:prstGeom prst="rect">
            <a:avLst/>
          </a:prstGeom>
          <a:solidFill>
            <a:srgbClr val="EEF3F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5742432" y="2715768"/>
            <a:ext cx="566928" cy="566928"/>
          </a:xfrm>
          <a:prstGeom prst="ellipse">
            <a:avLst/>
          </a:prstGeom>
          <a:solidFill>
            <a:srgbClr val="13262F"/>
          </a:solidFill>
          <a:ln/>
        </p:spPr>
      </p:sp>
      <p:sp>
        <p:nvSpPr>
          <p:cNvPr id="77" name="Text 73"/>
          <p:cNvSpPr/>
          <p:nvPr/>
        </p:nvSpPr>
        <p:spPr>
          <a:xfrm>
            <a:off x="5742432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</a:t>
            </a:r>
            <a:endParaRPr lang="en-US" sz="1400" dirty="0"/>
          </a:p>
        </p:txBody>
      </p:sp>
      <p:sp>
        <p:nvSpPr>
          <p:cNvPr id="78" name="Text 74"/>
          <p:cNvSpPr/>
          <p:nvPr/>
        </p:nvSpPr>
        <p:spPr>
          <a:xfrm>
            <a:off x="8074152" y="2715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79" name="Shape 75"/>
          <p:cNvSpPr/>
          <p:nvPr/>
        </p:nvSpPr>
        <p:spPr>
          <a:xfrm>
            <a:off x="1737360" y="5074920"/>
            <a:ext cx="8716975" cy="868680"/>
          </a:xfrm>
          <a:prstGeom prst="roundRect">
            <a:avLst>
              <a:gd name="adj" fmla="val 10526"/>
            </a:avLst>
          </a:prstGeom>
          <a:solidFill>
            <a:srgbClr val="EAF5EC"/>
          </a:solidFill>
          <a:ln w="15875">
            <a:solidFill>
              <a:srgbClr val="6FA03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0" name="Text 76"/>
          <p:cNvSpPr/>
          <p:nvPr/>
        </p:nvSpPr>
        <p:spPr>
          <a:xfrm>
            <a:off x="2011680" y="5120640"/>
            <a:ext cx="8168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regarder la case du dessous »  =  comparer la grille à une copie d'elle-même décalée d'une ligne.
</a:t>
            </a:r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calcul matriciel NumPy identifie tous les grains mobiles — au lieu de 20 000 tests cellule par cellule.</a:t>
            </a:r>
            <a:endParaRPr lang="en-US" sz="1350" dirty="0"/>
          </a:p>
        </p:txBody>
      </p:sp>
      <p:sp>
        <p:nvSpPr>
          <p:cNvPr id="81" name="Text 7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82" name="Text 78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la preuve chiffrée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step() vs step_vectorized(), grille 200 × 200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3 </a:t>
            </a:r>
            <a:pPr algn="l" indent="0" marL="0">
              <a:buNone/>
            </a:pPr>
            <a:r>
              <a:rPr lang="en-US" sz="7200" b="1" dirty="0">
                <a:solidFill>
                  <a:srgbClr val="6475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</a:t>
            </a:r>
            <a:pPr algn="l" indent="0" marL="0">
              <a:buNone/>
            </a:pPr>
            <a:r>
              <a:rPr lang="en-US" sz="7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step_vectorized() selon la densité de sable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3,0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mixte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3,5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Sable dense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4526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5,0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852160" y="155448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 terrain se remplit de débris, plus l'écart se creuse — exactement ce qu'il faut pour le temps réel.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Défis annexes surmontés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Effondrement des structures &amp; rendu fluide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928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Rupture structurelle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2585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apply_object_cuts()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27432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une ligne horizontale d'un objet est entièrement coupée, la partie au-dessus devient du sable et s'effondre.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Heuristique volontairement simple (pas d'analyse mécanique des appuis) → lisible et peu coûteuse.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97280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98448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99616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00784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01952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03120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04288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05456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97280" y="4187952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98448" y="4187952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99616" y="4187952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700784" y="4187952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01952" y="4187952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103120" y="4187952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04288" y="4187952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505456" y="4187952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7280" y="463600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843784" y="4389120"/>
            <a:ext cx="45720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3438144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639312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840480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41648" y="43891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42816" y="4389120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43984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5152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46320" y="4389120"/>
            <a:ext cx="201168" cy="201168"/>
          </a:xfrm>
          <a:prstGeom prst="rect">
            <a:avLst/>
          </a:prstGeom>
          <a:solidFill>
            <a:srgbClr val="8B5A2B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438144" y="4187952"/>
            <a:ext cx="201168" cy="201168"/>
          </a:xfrm>
          <a:prstGeom prst="rect">
            <a:avLst/>
          </a:prstGeom>
          <a:solidFill>
            <a:srgbClr val="E0A22E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639312" y="4187952"/>
            <a:ext cx="201168" cy="201168"/>
          </a:xfrm>
          <a:prstGeom prst="rect">
            <a:avLst/>
          </a:prstGeom>
          <a:solidFill>
            <a:srgbClr val="E0A22E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840480" y="4187952"/>
            <a:ext cx="201168" cy="201168"/>
          </a:xfrm>
          <a:prstGeom prst="rect">
            <a:avLst/>
          </a:prstGeom>
          <a:solidFill>
            <a:srgbClr val="E0A22E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041648" y="41879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242816" y="418795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443984" y="4187952"/>
            <a:ext cx="201168" cy="201168"/>
          </a:xfrm>
          <a:prstGeom prst="rect">
            <a:avLst/>
          </a:prstGeom>
          <a:solidFill>
            <a:srgbClr val="E0A22E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45152" y="4187952"/>
            <a:ext cx="201168" cy="201168"/>
          </a:xfrm>
          <a:prstGeom prst="rect">
            <a:avLst/>
          </a:prstGeom>
          <a:solidFill>
            <a:srgbClr val="E0A22E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846320" y="4187952"/>
            <a:ext cx="201168" cy="201168"/>
          </a:xfrm>
          <a:prstGeom prst="rect">
            <a:avLst/>
          </a:prstGeom>
          <a:solidFill>
            <a:srgbClr val="E0A22E"/>
          </a:solidFill>
          <a:ln w="6350">
            <a:solidFill>
              <a:srgbClr val="E6ECE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072384" y="463600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(coupure → sable)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446520" y="16002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1F5F6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766560" y="1874520"/>
            <a:ext cx="640080" cy="640080"/>
          </a:xfrm>
          <a:prstGeom prst="ellipse">
            <a:avLst/>
          </a:prstGeom>
          <a:solidFill>
            <a:srgbClr val="E0A2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81" y="2040941"/>
            <a:ext cx="307238" cy="307238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7543800" y="18928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cache des textures</a:t>
            </a:r>
            <a:endParaRPr lang="en-US" sz="1700" dirty="0"/>
          </a:p>
        </p:txBody>
      </p:sp>
      <p:sp>
        <p:nvSpPr>
          <p:cNvPr id="49" name="Text 45"/>
          <p:cNvSpPr/>
          <p:nvPr/>
        </p:nvSpPr>
        <p:spPr>
          <a:xfrm>
            <a:off x="7543800" y="22585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show_grid_pygame()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6812280" y="27432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texture est chargée et redimensionnée une seule fois, puis conservée en mémoire.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de relire les fichiers PNG depuis le disque 60 fois par seconde → affichage fluide.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6903720" y="443484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8B5A2B"/>
          </a:solidFill>
          <a:ln/>
        </p:spPr>
      </p:sp>
      <p:sp>
        <p:nvSpPr>
          <p:cNvPr id="52" name="Text 48"/>
          <p:cNvSpPr/>
          <p:nvPr/>
        </p:nvSpPr>
        <p:spPr>
          <a:xfrm>
            <a:off x="6903720" y="44348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8092440" y="4681728"/>
            <a:ext cx="457200" cy="0"/>
          </a:xfrm>
          <a:prstGeom prst="line">
            <a:avLst/>
          </a:prstGeom>
          <a:noFill/>
          <a:ln w="19050">
            <a:solidFill>
              <a:srgbClr val="64757E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>
            <a:off x="8595360" y="4434840"/>
            <a:ext cx="1280160" cy="502920"/>
          </a:xfrm>
          <a:prstGeom prst="roundRect">
            <a:avLst>
              <a:gd name="adj" fmla="val 10909"/>
            </a:avLst>
          </a:prstGeom>
          <a:solidFill>
            <a:srgbClr val="0E7C86"/>
          </a:solidFill>
          <a:ln/>
        </p:spPr>
      </p:sp>
      <p:sp>
        <p:nvSpPr>
          <p:cNvPr id="55" name="Text 51"/>
          <p:cNvSpPr/>
          <p:nvPr/>
        </p:nvSpPr>
        <p:spPr>
          <a:xfrm>
            <a:off x="8595360" y="4434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mémoire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>
            <a:off x="9921240" y="4681728"/>
            <a:ext cx="457200" cy="0"/>
          </a:xfrm>
          <a:prstGeom prst="line">
            <a:avLst/>
          </a:prstGeom>
          <a:noFill/>
          <a:ln w="19050">
            <a:solidFill>
              <a:srgbClr val="64757E"/>
            </a:solidFill>
            <a:prstDash val="solid"/>
            <a:tailEnd type="triangle"/>
          </a:ln>
        </p:spPr>
      </p:sp>
      <p:sp>
        <p:nvSpPr>
          <p:cNvPr id="57" name="Shape 53"/>
          <p:cNvSpPr/>
          <p:nvPr/>
        </p:nvSpPr>
        <p:spPr>
          <a:xfrm>
            <a:off x="10424160" y="44348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7B8C4"/>
          </a:solidFill>
          <a:ln/>
        </p:spPr>
      </p:sp>
      <p:sp>
        <p:nvSpPr>
          <p:cNvPr id="58" name="Text 54"/>
          <p:cNvSpPr/>
          <p:nvPr/>
        </p:nvSpPr>
        <p:spPr>
          <a:xfrm>
            <a:off x="10424160" y="4434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</a:t>
            </a:r>
            <a:endParaRPr lang="en-US" sz="1100" dirty="0"/>
          </a:p>
        </p:txBody>
      </p:sp>
      <p:sp>
        <p:nvSpPr>
          <p:cNvPr id="59" name="Text 55"/>
          <p:cNvSpPr/>
          <p:nvPr/>
        </p:nvSpPr>
        <p:spPr>
          <a:xfrm>
            <a:off x="6812280" y="50292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1ʳᵉ fois seulement ↑   ·   ensuite : directement depuis la mémoire</a:t>
            </a:r>
            <a:endParaRPr lang="en-US" sz="1000" dirty="0"/>
          </a:p>
        </p:txBody>
      </p:sp>
      <p:sp>
        <p:nvSpPr>
          <p:cNvPr id="60" name="Text 56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Bilan, limites &amp; perspectives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marche, ce qui reste, ce qui suivra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5148" y="160020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EAF5EC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5328" y="1874520"/>
            <a:ext cx="640080" cy="640080"/>
          </a:xfrm>
          <a:prstGeom prst="ellipse">
            <a:avLst/>
          </a:prstGeom>
          <a:solidFill>
            <a:srgbClr val="6FA03A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748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8028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5188" y="3154680"/>
            <a:ext cx="2926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abstraite Shape &amp; transformation radiale du terrain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 du sable vectorisée (NumPy)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/ reprise via SQLite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5628" y="160020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FBF3E3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75808" y="1874520"/>
            <a:ext cx="640080" cy="640080"/>
          </a:xfrm>
          <a:prstGeom prst="ellipse">
            <a:avLst/>
          </a:prstGeom>
          <a:solidFill>
            <a:srgbClr val="E0A2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228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8508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A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55668" y="3154680"/>
            <a:ext cx="2926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pression des fluides (ni vases communicants)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structurelle approximative (lignes coupées)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des worms non pris en compte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à compléter (sauvegarde, scénarios)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76108" y="160020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E7F4F5"/>
          </a:solidFill>
          <a:ln w="12700">
            <a:solidFill>
              <a:srgbClr val="D8E1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16288" y="1874520"/>
            <a:ext cx="640080" cy="64008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708" y="20409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8988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96148" y="3154680"/>
            <a:ext cx="2926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particules (fumée, débris fins)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armes &amp; meilleure UI de chargement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Sable au comportement plus fluide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5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280160"/>
            <a:ext cx="3886200" cy="3886200"/>
          </a:xfrm>
          <a:prstGeom prst="roundRect">
            <a:avLst>
              <a:gd name="adj" fmla="val 1412"/>
            </a:avLst>
          </a:prstGeom>
          <a:solidFill>
            <a:srgbClr val="1E3942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assets/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417320"/>
            <a:ext cx="3611880" cy="3611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371600"/>
            <a:ext cx="777240" cy="777240"/>
          </a:xfrm>
          <a:prstGeom prst="ellipse">
            <a:avLst/>
          </a:prstGeom>
          <a:solidFill>
            <a:srgbClr val="E0A22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1573682"/>
            <a:ext cx="373075" cy="3730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45920" y="14173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à la démonstration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640080" y="23317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7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 : un terrain matriciel destructible + une physique de sable vectorisée, en temps réel.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31520" y="30175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Destruction du terrain — missile &amp; strike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Éboulement du sable &amp; effondrement d'un pont  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 jeu &amp; système économique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4800600"/>
            <a:ext cx="6675120" cy="566928"/>
          </a:xfrm>
          <a:prstGeom prst="roundRect">
            <a:avLst>
              <a:gd name="adj" fmla="val 50000"/>
            </a:avLst>
          </a:prstGeom>
          <a:solidFill>
            <a:srgbClr val="1E3942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480060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gauche = worm · clic droit = tir · m = missile · s = strike · Entrée = fin de tour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40080" y="55778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après la démonstration.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Informatique · Moteur 2D destructible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180015" y="6419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F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Moteur de jeu 2D destructible — FISE 2028</dc:title>
  <dc:subject>PptxGenJS Presentation</dc:subject>
  <dc:creator>A. Pichard &amp; A. Lelievre</dc:creator>
  <cp:lastModifiedBy>A. Pichard &amp; A. Lelievre</cp:lastModifiedBy>
  <cp:revision>1</cp:revision>
  <dcterms:created xsi:type="dcterms:W3CDTF">2026-06-14T09:44:00Z</dcterms:created>
  <dcterms:modified xsi:type="dcterms:W3CDTF">2026-06-14T09:44:00Z</dcterms:modified>
</cp:coreProperties>
</file>